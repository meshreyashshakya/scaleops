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3" name="Shape 1"/>
          <p:cNvSpPr/>
          <p:nvPr/>
        </p:nvSpPr>
        <p:spPr>
          <a:xfrm>
            <a:off x="5303520" y="-1097280"/>
            <a:ext cx="5486400" cy="5486400"/>
          </a:xfrm>
          <a:prstGeom prst="ellipse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45720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BN201 — Professional Issues in IT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11480" y="960120"/>
            <a:ext cx="68580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 Certifications &amp;</a:t>
            </a:r>
            <a:endParaRPr lang="en-US" sz="4400" dirty="0"/>
          </a:p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Professional Development</a:t>
            </a:r>
            <a:endParaRPr lang="en-US" sz="4400" dirty="0"/>
          </a:p>
        </p:txBody>
      </p:sp>
      <p:sp>
        <p:nvSpPr>
          <p:cNvPr id="6" name="Shape 4"/>
          <p:cNvSpPr/>
          <p:nvPr/>
        </p:nvSpPr>
        <p:spPr>
          <a:xfrm>
            <a:off x="411480" y="2926080"/>
            <a:ext cx="1005840" cy="54864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3108960"/>
            <a:ext cx="6858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how industry credentials shape career pathways,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confidence, and professional IT governance.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11480" y="41605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4160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 10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97480" y="41605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697480" y="4160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Presentation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83480" y="4160520"/>
            <a:ext cx="2011680" cy="347472"/>
          </a:xfrm>
          <a:prstGeom prst="roundRect">
            <a:avLst>
              <a:gd name="adj" fmla="val 13158"/>
            </a:avLst>
          </a:prstGeom>
          <a:solidFill>
            <a:srgbClr val="4A90D9">
              <a:alpha val="25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83480" y="416052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Semester Assessment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548640"/>
            <a:ext cx="1645920" cy="1645920"/>
          </a:xfrm>
          <a:prstGeom prst="ellipse">
            <a:avLst/>
          </a:prstGeom>
          <a:solidFill>
            <a:srgbClr val="4A90D9">
              <a:alpha val="30000"/>
            </a:srgbClr>
          </a:solidFill>
          <a:ln w="12700">
            <a:solidFill>
              <a:srgbClr val="4A90D9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772400" y="1005840"/>
            <a:ext cx="1097280" cy="1097280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PRESENTATION OUTLINE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20040" y="960120"/>
            <a:ext cx="5029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6" name="Text 4"/>
          <p:cNvSpPr/>
          <p:nvPr/>
        </p:nvSpPr>
        <p:spPr>
          <a:xfrm>
            <a:off x="320040" y="960120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60120" y="1024128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Are IT Certifications?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98448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Overview, major vendors — Cisco, Microsoft, CompTIA &amp; more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0040" y="1746504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1746504"/>
            <a:ext cx="5029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320040" y="1746504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960120" y="1810512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Certifications Matter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084832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Statistics, salary impact, employer expectations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20040" y="2532888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" y="2532888"/>
            <a:ext cx="5029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16" name="Text 14"/>
          <p:cNvSpPr/>
          <p:nvPr/>
        </p:nvSpPr>
        <p:spPr>
          <a:xfrm>
            <a:off x="320040" y="2532888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960120" y="2596896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Career Growth Pathways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2871216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to senior professional — a realistic roadmap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" y="3319272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20040" y="3319272"/>
            <a:ext cx="5029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320040" y="3319272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0120" y="338328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Policies for Students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3657600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Integrity, acceptable use, funding &amp; data handling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0040" y="4105656"/>
            <a:ext cx="850392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D6E2F5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4105656"/>
            <a:ext cx="502920" cy="65836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26" name="Text 24"/>
          <p:cNvSpPr/>
          <p:nvPr/>
        </p:nvSpPr>
        <p:spPr>
          <a:xfrm>
            <a:off x="320040" y="4105656"/>
            <a:ext cx="502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960120" y="4169664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Recommendations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60120" y="4443984"/>
            <a:ext cx="76809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 and practical next steps for students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 OF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Are IT Certifications?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365760" y="1005840"/>
            <a:ext cx="8412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Vendor-neutral or vendor-specific credentials that validate a professional's technical skills through rigorous examination — often paired with experience requirements and periodic renewal to maintain currency.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20040" y="1719072"/>
            <a:ext cx="2651760" cy="1389888"/>
          </a:xfrm>
          <a:prstGeom prst="rect">
            <a:avLst/>
          </a:prstGeom>
          <a:solidFill>
            <a:srgbClr val="E8F0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19072"/>
            <a:ext cx="2651760" cy="109728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" y="19019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CCNA / CCNP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48056" y="224942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Cisco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8056" y="2596896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1E2761">
              <a:alpha val="18000"/>
            </a:srgbClr>
          </a:solidFill>
          <a:ln w="12700">
            <a:solidFill>
              <a:srgbClr val="1E2761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48056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→ Expert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154680" y="1719072"/>
            <a:ext cx="2651760" cy="1389888"/>
          </a:xfrm>
          <a:prstGeom prst="rect">
            <a:avLst/>
          </a:prstGeom>
          <a:solidFill>
            <a:srgbClr val="E8F4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54680" y="1719072"/>
            <a:ext cx="2651760" cy="109728"/>
          </a:xfrm>
          <a:prstGeom prst="rect">
            <a:avLst/>
          </a:prstGeom>
          <a:solidFill>
            <a:srgbClr val="0078D4"/>
          </a:solidFill>
          <a:ln/>
        </p:spPr>
      </p:sp>
      <p:sp>
        <p:nvSpPr>
          <p:cNvPr id="14" name="Text 12"/>
          <p:cNvSpPr/>
          <p:nvPr/>
        </p:nvSpPr>
        <p:spPr>
          <a:xfrm>
            <a:off x="3282696" y="19019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AZ-900 / AZ-104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282696" y="224942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 Azure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282696" y="2596896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0078D4">
              <a:alpha val="18000"/>
            </a:srgbClr>
          </a:solidFill>
          <a:ln w="12700">
            <a:solidFill>
              <a:srgbClr val="0078D4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82696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8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→ Mid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5989320" y="1719072"/>
            <a:ext cx="2651760" cy="1389888"/>
          </a:xfrm>
          <a:prstGeom prst="rect">
            <a:avLst/>
          </a:prstGeom>
          <a:solidFill>
            <a:srgbClr val="FBE8E8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989320" y="1719072"/>
            <a:ext cx="2651760" cy="10972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0" name="Text 18"/>
          <p:cNvSpPr/>
          <p:nvPr/>
        </p:nvSpPr>
        <p:spPr>
          <a:xfrm>
            <a:off x="6117336" y="1901952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Security+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117336" y="2249424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17336" y="2596896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C0392B">
              <a:alpha val="18000"/>
            </a:srgbClr>
          </a:solidFill>
          <a:ln w="12700">
            <a:solidFill>
              <a:srgbClr val="C0392B">
                <a:alpha val="4000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117336" y="2596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3291840"/>
            <a:ext cx="2651760" cy="1389888"/>
          </a:xfrm>
          <a:prstGeom prst="rect">
            <a:avLst/>
          </a:prstGeom>
          <a:solidFill>
            <a:srgbClr val="FFF4E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20040" y="3291840"/>
            <a:ext cx="2651760" cy="109728"/>
          </a:xfrm>
          <a:prstGeom prst="rect">
            <a:avLst/>
          </a:prstGeom>
          <a:solidFill>
            <a:srgbClr val="FF9900"/>
          </a:solidFill>
          <a:ln/>
        </p:spPr>
      </p:sp>
      <p:sp>
        <p:nvSpPr>
          <p:cNvPr id="26" name="Text 24"/>
          <p:cNvSpPr/>
          <p:nvPr/>
        </p:nvSpPr>
        <p:spPr>
          <a:xfrm>
            <a:off x="448056" y="34747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SAA-C03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48056" y="38221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AWS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48056" y="4169664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FF9900">
              <a:alpha val="18000"/>
            </a:srgbClr>
          </a:solidFill>
          <a:ln w="12700">
            <a:solidFill>
              <a:srgbClr val="FF9900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48056" y="4169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99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154680" y="3291840"/>
            <a:ext cx="2651760" cy="1389888"/>
          </a:xfrm>
          <a:prstGeom prst="rect">
            <a:avLst/>
          </a:prstGeom>
          <a:solidFill>
            <a:srgbClr val="E8FBF0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154680" y="3291840"/>
            <a:ext cx="2651760" cy="10972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32" name="Text 30"/>
          <p:cNvSpPr/>
          <p:nvPr/>
        </p:nvSpPr>
        <p:spPr>
          <a:xfrm>
            <a:off x="3282696" y="34747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A+ / Network+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3282696" y="38221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CompTIA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3282696" y="4169664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27AE60">
              <a:alpha val="18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82696" y="4169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5989320" y="3291840"/>
            <a:ext cx="2651760" cy="1389888"/>
          </a:xfrm>
          <a:prstGeom prst="rect">
            <a:avLst/>
          </a:prstGeom>
          <a:solidFill>
            <a:srgbClr val="F0E8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989320" y="3291840"/>
            <a:ext cx="2651760" cy="109728"/>
          </a:xfrm>
          <a:prstGeom prst="rect">
            <a:avLst/>
          </a:prstGeom>
          <a:solidFill>
            <a:srgbClr val="7D3C98"/>
          </a:solidFill>
          <a:ln/>
        </p:spPr>
      </p:sp>
      <p:sp>
        <p:nvSpPr>
          <p:cNvPr id="38" name="Text 36"/>
          <p:cNvSpPr/>
          <p:nvPr/>
        </p:nvSpPr>
        <p:spPr>
          <a:xfrm>
            <a:off x="6117336" y="3474720"/>
            <a:ext cx="239572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CISSP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117336" y="3822192"/>
            <a:ext cx="23957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ISC²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6117336" y="4169664"/>
            <a:ext cx="1463040" cy="274320"/>
          </a:xfrm>
          <a:prstGeom prst="roundRect">
            <a:avLst>
              <a:gd name="adj" fmla="val 13333"/>
            </a:avLst>
          </a:prstGeom>
          <a:solidFill>
            <a:srgbClr val="7D3C98">
              <a:alpha val="18000"/>
            </a:srgbClr>
          </a:solidFill>
          <a:ln w="12700">
            <a:solidFill>
              <a:srgbClr val="7D3C98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117336" y="41696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D3C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 OF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Certifications Matter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26517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41148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hiring managers factor certifications into recruitment decisions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154680" y="1024128"/>
            <a:ext cx="26517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5468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24612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salary uplift for certified vs non-certified IT professionals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989320" y="1024128"/>
            <a:ext cx="2651760" cy="109728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989320" y="1078992"/>
            <a:ext cx="265176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3×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080760" y="16002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90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promotion rate for certified IT staff (Pearson VUE, 2023)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0040" y="2267712"/>
            <a:ext cx="4160520" cy="1170432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252374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9496" y="2578608"/>
            <a:ext cx="384048" cy="38404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097280" y="23774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Employer confidence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1097280" y="265176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give employers a standardised benchmark — proven, tested competence rather than self-reported skills.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4636008" y="2267712"/>
            <a:ext cx="4160520" cy="1170432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4800600" y="252374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5464" y="2578608"/>
            <a:ext cx="384048" cy="384048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5413248" y="237744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portability</a:t>
            </a:r>
            <a:endParaRPr lang="en-US" sz="1200" dirty="0"/>
          </a:p>
        </p:txBody>
      </p:sp>
      <p:sp>
        <p:nvSpPr>
          <p:cNvPr id="23" name="Text 19"/>
          <p:cNvSpPr/>
          <p:nvPr/>
        </p:nvSpPr>
        <p:spPr>
          <a:xfrm>
            <a:off x="5413248" y="265176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like CCNA or AWS SAA are recognised internationally, enabling career mobility across regions.</a:t>
            </a:r>
            <a:endParaRPr lang="en-US" sz="1050" dirty="0"/>
          </a:p>
        </p:txBody>
      </p:sp>
      <p:sp>
        <p:nvSpPr>
          <p:cNvPr id="24" name="Shape 20"/>
          <p:cNvSpPr/>
          <p:nvPr/>
        </p:nvSpPr>
        <p:spPr>
          <a:xfrm>
            <a:off x="320040" y="3593592"/>
            <a:ext cx="4160520" cy="1170432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84632" y="384962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9496" y="3904488"/>
            <a:ext cx="384048" cy="384048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1097280" y="37033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Currency of knowledge</a:t>
            </a:r>
            <a:endParaRPr lang="en-US" sz="1200" dirty="0"/>
          </a:p>
        </p:txBody>
      </p:sp>
      <p:sp>
        <p:nvSpPr>
          <p:cNvPr id="28" name="Text 23"/>
          <p:cNvSpPr/>
          <p:nvPr/>
        </p:nvSpPr>
        <p:spPr>
          <a:xfrm>
            <a:off x="1097280" y="39776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certs require renewal every 2–3 years, ensuring professionals keep pace with rapidly evolving technology.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4636008" y="3593592"/>
            <a:ext cx="4160520" cy="1170432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30" name="Shape 25"/>
          <p:cNvSpPr/>
          <p:nvPr/>
        </p:nvSpPr>
        <p:spPr>
          <a:xfrm>
            <a:off x="4800600" y="3849624"/>
            <a:ext cx="493776" cy="493776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5464" y="3904488"/>
            <a:ext cx="384048" cy="38404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5413248" y="370332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 identity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5413248" y="3977640"/>
            <a:ext cx="3246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Certified communities (ISC² members, Cisco alumni) build networks and professional identity within IT.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 OF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Career Growth Pathway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26364" y="1572768"/>
            <a:ext cx="0" cy="502920"/>
          </a:xfrm>
          <a:prstGeom prst="line">
            <a:avLst/>
          </a:prstGeom>
          <a:noFill/>
          <a:ln w="19050">
            <a:solidFill>
              <a:srgbClr val="C8D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93192" y="1133856"/>
            <a:ext cx="475488" cy="475488"/>
          </a:xfrm>
          <a:prstGeom prst="ellipse">
            <a:avLst/>
          </a:prstGeom>
          <a:solidFill>
            <a:srgbClr val="27AE60"/>
          </a:solidFill>
          <a:ln/>
        </p:spPr>
      </p:sp>
      <p:sp>
        <p:nvSpPr>
          <p:cNvPr id="7" name="Shape 5"/>
          <p:cNvSpPr/>
          <p:nvPr/>
        </p:nvSpPr>
        <p:spPr>
          <a:xfrm>
            <a:off x="1051560" y="1024128"/>
            <a:ext cx="7772400" cy="86868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51560" y="1024128"/>
            <a:ext cx="91440" cy="868680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9" name="Text 7"/>
          <p:cNvSpPr/>
          <p:nvPr/>
        </p:nvSpPr>
        <p:spPr>
          <a:xfrm>
            <a:off x="1261872" y="111556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— Student / Graduate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949440" y="109728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27AE60">
              <a:alpha val="18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949440" y="109728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27AE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0–1 year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61872" y="1389888"/>
            <a:ext cx="6858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Certs: CompTIA A+, Network+, Microsoft AZ-900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261872" y="160020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Achievable alongside your degree with 2–4 weeks of focused self-study. Low cost, high impact at graduation.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6364" y="2578608"/>
            <a:ext cx="0" cy="502920"/>
          </a:xfrm>
          <a:prstGeom prst="line">
            <a:avLst/>
          </a:prstGeom>
          <a:noFill/>
          <a:ln w="19050">
            <a:solidFill>
              <a:srgbClr val="C8D8F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93192" y="2139696"/>
            <a:ext cx="475488" cy="475488"/>
          </a:xfrm>
          <a:prstGeom prst="ellipse">
            <a:avLst/>
          </a:prstGeom>
          <a:solidFill>
            <a:srgbClr val="4A90D9"/>
          </a:solidFill>
          <a:ln/>
        </p:spPr>
      </p:sp>
      <p:sp>
        <p:nvSpPr>
          <p:cNvPr id="16" name="Shape 14"/>
          <p:cNvSpPr/>
          <p:nvPr/>
        </p:nvSpPr>
        <p:spPr>
          <a:xfrm>
            <a:off x="1051560" y="2029968"/>
            <a:ext cx="7772400" cy="86868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51560" y="2029968"/>
            <a:ext cx="91440" cy="8686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6"/>
          <p:cNvSpPr/>
          <p:nvPr/>
        </p:nvSpPr>
        <p:spPr>
          <a:xfrm>
            <a:off x="1261872" y="212140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Junior IT Role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949440" y="210312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4A90D9">
              <a:alpha val="18000"/>
            </a:srgbClr>
          </a:solidFill>
          <a:ln w="12700">
            <a:solidFill>
              <a:srgbClr val="4A90D9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49440" y="210312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years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61872" y="2395728"/>
            <a:ext cx="6858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Certs: CCNA, AZ-104, AWS Cloud Practitioner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261872" y="260604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Helpdesk, junior sysadmin, or associate developer. Certs open specialist tracks and accelerate progression.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626364" y="3584448"/>
            <a:ext cx="0" cy="502920"/>
          </a:xfrm>
          <a:prstGeom prst="line">
            <a:avLst/>
          </a:prstGeom>
          <a:noFill/>
          <a:ln w="19050">
            <a:solidFill>
              <a:srgbClr val="C8D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93192" y="3145536"/>
            <a:ext cx="475488" cy="475488"/>
          </a:xfrm>
          <a:prstGeom prst="ellipse">
            <a:avLst/>
          </a:prstGeom>
          <a:solidFill>
            <a:srgbClr val="E67E22"/>
          </a:solidFill>
          <a:ln/>
        </p:spPr>
      </p:sp>
      <p:sp>
        <p:nvSpPr>
          <p:cNvPr id="25" name="Shape 23"/>
          <p:cNvSpPr/>
          <p:nvPr/>
        </p:nvSpPr>
        <p:spPr>
          <a:xfrm>
            <a:off x="1051560" y="3035808"/>
            <a:ext cx="7772400" cy="86868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51560" y="3035808"/>
            <a:ext cx="91440" cy="868680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27" name="Text 25"/>
          <p:cNvSpPr/>
          <p:nvPr/>
        </p:nvSpPr>
        <p:spPr>
          <a:xfrm>
            <a:off x="1261872" y="312724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Mid-level Specialist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949440" y="310896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E67E22">
              <a:alpha val="18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949440" y="3108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E67E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3–5 years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261872" y="3401568"/>
            <a:ext cx="6858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Certs: Security+, CCNP, AWS SAA-C03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1261872" y="361188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engineer, cloud architect, or security analyst. Mid-tier certs confirm specialisation.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93192" y="4151376"/>
            <a:ext cx="475488" cy="475488"/>
          </a:xfrm>
          <a:prstGeom prst="ellipse">
            <a:avLst/>
          </a:prstGeom>
          <a:solidFill>
            <a:srgbClr val="8E44AD"/>
          </a:solidFill>
          <a:ln/>
        </p:spPr>
      </p:sp>
      <p:sp>
        <p:nvSpPr>
          <p:cNvPr id="33" name="Shape 31"/>
          <p:cNvSpPr/>
          <p:nvPr/>
        </p:nvSpPr>
        <p:spPr>
          <a:xfrm>
            <a:off x="1051560" y="4041648"/>
            <a:ext cx="7772400" cy="868680"/>
          </a:xfrm>
          <a:prstGeom prst="rect">
            <a:avLst/>
          </a:prstGeom>
          <a:solidFill>
            <a:srgbClr val="EAF0FB"/>
          </a:solidFill>
          <a:ln w="12700">
            <a:solidFill>
              <a:srgbClr val="D0DC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051560" y="4041648"/>
            <a:ext cx="91440" cy="868680"/>
          </a:xfrm>
          <a:prstGeom prst="rect">
            <a:avLst/>
          </a:prstGeom>
          <a:solidFill>
            <a:srgbClr val="8E44AD"/>
          </a:solidFill>
          <a:ln/>
        </p:spPr>
      </p:sp>
      <p:sp>
        <p:nvSpPr>
          <p:cNvPr id="35" name="Text 33"/>
          <p:cNvSpPr/>
          <p:nvPr/>
        </p:nvSpPr>
        <p:spPr>
          <a:xfrm>
            <a:off x="1261872" y="4133088"/>
            <a:ext cx="4572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/ Leadership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949440" y="4114800"/>
            <a:ext cx="1645920" cy="274320"/>
          </a:xfrm>
          <a:prstGeom prst="roundRect">
            <a:avLst>
              <a:gd name="adj" fmla="val 13333"/>
            </a:avLst>
          </a:prstGeom>
          <a:solidFill>
            <a:srgbClr val="8E44AD">
              <a:alpha val="18000"/>
            </a:srgbClr>
          </a:solidFill>
          <a:ln w="12700">
            <a:solidFill>
              <a:srgbClr val="8E44AD">
                <a:alpha val="4000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949440" y="411480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8E44A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5+ years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61872" y="4407408"/>
            <a:ext cx="68580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Certs: CISSP, CISM, CCIE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261872" y="4617720"/>
            <a:ext cx="6858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Expert-level credentials open management and consulting tracks. Often required for senior roles.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73152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 OF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82296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MIT Policies Relevant to Students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20040" y="1024128"/>
            <a:ext cx="8503920" cy="868680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024128"/>
            <a:ext cx="822960" cy="868680"/>
          </a:xfrm>
          <a:prstGeom prst="rect">
            <a:avLst/>
          </a:prstGeom>
          <a:solidFill>
            <a:srgbClr val="E8F0FB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" y="1271016"/>
            <a:ext cx="502920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11556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Integrity in Certification Study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1280160" y="140817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MIT's Academic Integrity Policy extends to cert preparation. Using 'brain dump' exam materials is academic dishonesty — it violates vendor agreements and can result in permanent certification bans.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20040" y="2029968"/>
            <a:ext cx="8503920" cy="868680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320040" y="2029968"/>
            <a:ext cx="822960" cy="868680"/>
          </a:xfrm>
          <a:prstGeom prst="rect">
            <a:avLst/>
          </a:prstGeom>
          <a:solidFill>
            <a:srgbClr val="E8F0FB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2276856"/>
            <a:ext cx="502920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280160" y="212140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Acceptable Use of IT Resources</a:t>
            </a:r>
            <a:endParaRPr lang="en-US" sz="1250" dirty="0"/>
          </a:p>
        </p:txBody>
      </p:sp>
      <p:sp>
        <p:nvSpPr>
          <p:cNvPr id="14" name="Text 10"/>
          <p:cNvSpPr/>
          <p:nvPr/>
        </p:nvSpPr>
        <p:spPr>
          <a:xfrm>
            <a:off x="1280160" y="241401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Students may use MIT lab environments and licensed software (e.g., Cisco Packet Tracer via NetAcad) for cert study, provided use complies with the Acceptable Use Policy — no commercial gain.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320040" y="3035808"/>
            <a:ext cx="8503920" cy="868680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320040" y="3035808"/>
            <a:ext cx="822960" cy="868680"/>
          </a:xfrm>
          <a:prstGeom prst="rect">
            <a:avLst/>
          </a:prstGeom>
          <a:solidFill>
            <a:srgbClr val="E8F0FB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" y="3282696"/>
            <a:ext cx="502920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280160" y="312724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&amp; Recognition Opportunities</a:t>
            </a:r>
            <a:endParaRPr lang="en-US" sz="1250" dirty="0"/>
          </a:p>
        </p:txBody>
      </p:sp>
      <p:sp>
        <p:nvSpPr>
          <p:cNvPr id="19" name="Text 14"/>
          <p:cNvSpPr/>
          <p:nvPr/>
        </p:nvSpPr>
        <p:spPr>
          <a:xfrm>
            <a:off x="1280160" y="341985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may offer subsidised exam vouchers or formal recognition for students completing approved certs as co-curricular activities — check with Student Services for current schemes.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320040" y="4041648"/>
            <a:ext cx="8503920" cy="868680"/>
          </a:xfrm>
          <a:prstGeom prst="rect">
            <a:avLst/>
          </a:prstGeom>
          <a:solidFill>
            <a:srgbClr val="EAF0FB"/>
          </a:solidFill>
          <a:ln w="12700">
            <a:solidFill>
              <a:srgbClr val="C8D8F0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320040" y="4041648"/>
            <a:ext cx="822960" cy="868680"/>
          </a:xfrm>
          <a:prstGeom prst="rect">
            <a:avLst/>
          </a:prstGeom>
          <a:solidFill>
            <a:srgbClr val="E8F0FB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" y="4288536"/>
            <a:ext cx="502920" cy="384048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280160" y="41330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Privacy &amp; Data Handling in Lab Work</a:t>
            </a:r>
            <a:endParaRPr lang="en-US" sz="1250" dirty="0"/>
          </a:p>
        </p:txBody>
      </p:sp>
      <p:sp>
        <p:nvSpPr>
          <p:cNvPr id="24" name="Text 18"/>
          <p:cNvSpPr/>
          <p:nvPr/>
        </p:nvSpPr>
        <p:spPr>
          <a:xfrm>
            <a:off x="1280160" y="442569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50" dirty="0">
                <a:solidFill>
                  <a:srgbClr val="4455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cert labs (e.g., penetration testing for Security+) must comply with MIT's Privacy &amp; Data Security Policy — all work must be confined to designated sandboxed environments.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914400"/>
            <a:ext cx="5029200" cy="5029200"/>
          </a:xfrm>
          <a:prstGeom prst="ellipse">
            <a:avLst/>
          </a:prstGeom>
          <a:solidFill>
            <a:srgbClr val="FFFFFF">
              <a:alpha val="6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18288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300" kern="0" dirty="0">
                <a:solidFill>
                  <a:srgbClr val="8FA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 OF 5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11480" y="438912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 &amp; Recommendations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11480" y="1234440"/>
            <a:ext cx="8321040" cy="7132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17320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78992" y="132588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certifications are a proven signal of competence — employers globally treat them as a credible, standardised benchmark beyond degrees alone.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411480" y="2075688"/>
            <a:ext cx="8321040" cy="7132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6928" y="2258568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078992" y="2167128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Starting with entry-level certs during study (A+, AZ-900, CCNA) is low-cost, achievable, and creates a competitive edge at graduation.</a:t>
            </a:r>
            <a:endParaRPr lang="en-US" sz="1150" dirty="0"/>
          </a:p>
        </p:txBody>
      </p:sp>
      <p:sp>
        <p:nvSpPr>
          <p:cNvPr id="11" name="Shape 7"/>
          <p:cNvSpPr/>
          <p:nvPr/>
        </p:nvSpPr>
        <p:spPr>
          <a:xfrm>
            <a:off x="411480" y="2916936"/>
            <a:ext cx="8321040" cy="7132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3099816"/>
            <a:ext cx="347472" cy="34747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078992" y="3008376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Certifications embed ethics and governance: vendor codes of conduct, responsible tool use, and legal compliance in cybersecurity practice.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411480" y="3758184"/>
            <a:ext cx="8321040" cy="713232"/>
          </a:xfrm>
          <a:prstGeom prst="rect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25000"/>
              </a:srgbClr>
            </a:solidFill>
            <a:prstDash val="solid"/>
          </a:ln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6928" y="3941064"/>
            <a:ext cx="347472" cy="347472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078992" y="3849624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2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policies ensure students pursue credentials with integrity — using authorised resources, respecting exam rules, and leveraging institutional support ethically.</a:t>
            </a:r>
            <a:endParaRPr lang="en-US" sz="1150" dirty="0"/>
          </a:p>
        </p:txBody>
      </p:sp>
      <p:sp>
        <p:nvSpPr>
          <p:cNvPr id="17" name="Shape 11"/>
          <p:cNvSpPr/>
          <p:nvPr/>
        </p:nvSpPr>
        <p:spPr>
          <a:xfrm>
            <a:off x="0" y="4617720"/>
            <a:ext cx="9144000" cy="5257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8" name="Text 12"/>
          <p:cNvSpPr/>
          <p:nvPr/>
        </p:nvSpPr>
        <p:spPr>
          <a:xfrm>
            <a:off x="365760" y="4617720"/>
            <a:ext cx="841248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message: In a competitive IT job market, a degree opens the door — but a certification proves you can walk through it.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IT Certifications and Professional Development – BN201</dc:title>
  <dc:subject>PptxGenJS Presentation</dc:subject>
  <dc:creator>PptxGenJS</dc:creator>
  <cp:lastModifiedBy>PptxGenJS</cp:lastModifiedBy>
  <cp:revision>1</cp:revision>
  <dcterms:created xsi:type="dcterms:W3CDTF">2026-05-27T02:59:18Z</dcterms:created>
  <dcterms:modified xsi:type="dcterms:W3CDTF">2026-05-27T02:59:18Z</dcterms:modified>
</cp:coreProperties>
</file>